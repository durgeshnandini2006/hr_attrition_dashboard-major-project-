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" charset="1" panose="00000500000000000000"/>
      <p:regular r:id="rId19"/>
    </p:embeddedFont>
    <p:embeddedFont>
      <p:font typeface="Montserrat Bold" charset="1" panose="00000800000000000000"/>
      <p:regular r:id="rId20"/>
    </p:embeddedFont>
    <p:embeddedFont>
      <p:font typeface="Montserrat Semi-Bold" charset="1" panose="000007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27486"/>
            <a:ext cx="9954803" cy="9991134"/>
          </a:xfrm>
          <a:custGeom>
            <a:avLst/>
            <a:gdLst/>
            <a:ahLst/>
            <a:cxnLst/>
            <a:rect r="r" b="b" t="t" l="l"/>
            <a:pathLst>
              <a:path h="9991134" w="9954803">
                <a:moveTo>
                  <a:pt x="0" y="0"/>
                </a:moveTo>
                <a:lnTo>
                  <a:pt x="9954803" y="0"/>
                </a:lnTo>
                <a:lnTo>
                  <a:pt x="9954803" y="9991134"/>
                </a:lnTo>
                <a:lnTo>
                  <a:pt x="0" y="9991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87358" y="1028700"/>
            <a:ext cx="12757067" cy="698786"/>
            <a:chOff x="0" y="0"/>
            <a:chExt cx="3359886" cy="1840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59886" cy="184042"/>
            </a:xfrm>
            <a:custGeom>
              <a:avLst/>
              <a:gdLst/>
              <a:ahLst/>
              <a:cxnLst/>
              <a:rect r="r" b="b" t="t" l="l"/>
              <a:pathLst>
                <a:path h="184042" w="3359886">
                  <a:moveTo>
                    <a:pt x="21241" y="0"/>
                  </a:moveTo>
                  <a:lnTo>
                    <a:pt x="3338645" y="0"/>
                  </a:lnTo>
                  <a:cubicBezTo>
                    <a:pt x="3350376" y="0"/>
                    <a:pt x="3359886" y="9510"/>
                    <a:pt x="3359886" y="21241"/>
                  </a:cubicBezTo>
                  <a:lnTo>
                    <a:pt x="3359886" y="162802"/>
                  </a:lnTo>
                  <a:cubicBezTo>
                    <a:pt x="3359886" y="174533"/>
                    <a:pt x="3350376" y="184042"/>
                    <a:pt x="3338645" y="184042"/>
                  </a:cubicBezTo>
                  <a:lnTo>
                    <a:pt x="21241" y="184042"/>
                  </a:lnTo>
                  <a:cubicBezTo>
                    <a:pt x="9510" y="184042"/>
                    <a:pt x="0" y="174533"/>
                    <a:pt x="0" y="162802"/>
                  </a:cubicBezTo>
                  <a:lnTo>
                    <a:pt x="0" y="21241"/>
                  </a:lnTo>
                  <a:cubicBezTo>
                    <a:pt x="0" y="9510"/>
                    <a:pt x="9510" y="0"/>
                    <a:pt x="212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59886" cy="231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spc="-83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RUNGTA COLLEGE OF ENGINEERING &amp; TECHNOLOGY R1, BHILAI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70339" y="1950147"/>
            <a:ext cx="10716351" cy="4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52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HR ATTRI</a:t>
            </a:r>
            <a:r>
              <a:rPr lang="en-US" b="true" sz="12000" spc="-52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TION ANALYSIS &amp;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284" y="5665892"/>
            <a:ext cx="4374230" cy="110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</a:p>
          <a:p>
            <a:pPr algn="l">
              <a:lnSpc>
                <a:spcPts val="4456"/>
              </a:lnSpc>
              <a:spcBef>
                <a:spcPct val="0"/>
              </a:spcBef>
            </a:pPr>
            <a:r>
              <a:rPr lang="en-US" sz="3182" spc="48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USING POWERBI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0339" y="7279163"/>
            <a:ext cx="4951363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 spc="-10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TEAM MEMBERS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364" y="7907324"/>
            <a:ext cx="6779350" cy="203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3542" spc="-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DIVYANSHU CHANDRA</a:t>
            </a:r>
          </a:p>
          <a:p>
            <a:pPr algn="l">
              <a:lnSpc>
                <a:spcPts val="4003"/>
              </a:lnSpc>
            </a:pPr>
            <a:r>
              <a:rPr lang="en-US" sz="3542" spc="-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DURGESH NANDINI</a:t>
            </a:r>
          </a:p>
          <a:p>
            <a:pPr algn="l">
              <a:lnSpc>
                <a:spcPts val="4003"/>
              </a:lnSpc>
            </a:pPr>
            <a:r>
              <a:rPr lang="en-US" sz="3542" spc="-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NAYAN TARA BARLA</a:t>
            </a:r>
          </a:p>
          <a:p>
            <a:pPr algn="l">
              <a:lnSpc>
                <a:spcPts val="4003"/>
              </a:lnSpc>
            </a:pPr>
            <a:r>
              <a:rPr lang="en-US" sz="3542" spc="-1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SUNNY JHA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37838" y="1405603"/>
            <a:ext cx="7764574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spc="-28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6399" spc="-2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1546" y="3018651"/>
            <a:ext cx="9641472" cy="623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6674" indent="-308337" lvl="1">
              <a:lnSpc>
                <a:spcPts val="3998"/>
              </a:lnSpc>
              <a:buFont typeface="Arial"/>
              <a:buChar char="•"/>
            </a:pPr>
            <a:r>
              <a:rPr lang="en-US" sz="28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Employee attrition is a major organizational challenge</a:t>
            </a:r>
          </a:p>
          <a:p>
            <a:pPr algn="just" marL="588416" indent="-294208" lvl="1">
              <a:lnSpc>
                <a:spcPts val="3815"/>
              </a:lnSpc>
              <a:buFont typeface="Arial"/>
              <a:buChar char="•"/>
            </a:pPr>
            <a:r>
              <a:rPr lang="en-US" sz="27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attrition increases recruitment cost and productivity loss</a:t>
            </a:r>
          </a:p>
          <a:p>
            <a:pPr algn="just" marL="673190" indent="-336595" lvl="1">
              <a:lnSpc>
                <a:spcPts val="4365"/>
              </a:lnSpc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HR data is analyzed to identify attrition patterns</a:t>
            </a:r>
          </a:p>
          <a:p>
            <a:pPr algn="just" marL="673190" indent="-336595" lvl="1">
              <a:lnSpc>
                <a:spcPts val="4365"/>
              </a:lnSpc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Key factors such as salary, department, and experience are studied</a:t>
            </a:r>
          </a:p>
          <a:p>
            <a:pPr algn="l" marL="673190" indent="-336595" lvl="1">
              <a:lnSpc>
                <a:spcPts val="4365"/>
              </a:lnSpc>
              <a:buFont typeface="Arial"/>
              <a:buChar char="•"/>
            </a:pPr>
            <a:r>
              <a:rPr lang="en-US" sz="311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Interactive dashboard developed using Power BI</a:t>
            </a:r>
          </a:p>
          <a:p>
            <a:pPr algn="just" marL="701448" indent="-350724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Insights support data-driven HR decisions</a:t>
            </a:r>
          </a:p>
          <a:p>
            <a:pPr algn="just">
              <a:lnSpc>
                <a:spcPts val="3265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970209" y="3673882"/>
            <a:ext cx="5289091" cy="4365905"/>
          </a:xfrm>
          <a:custGeom>
            <a:avLst/>
            <a:gdLst/>
            <a:ahLst/>
            <a:cxnLst/>
            <a:rect r="r" b="b" t="t" l="l"/>
            <a:pathLst>
              <a:path h="4365905" w="5289091">
                <a:moveTo>
                  <a:pt x="0" y="0"/>
                </a:moveTo>
                <a:lnTo>
                  <a:pt x="5289091" y="0"/>
                </a:lnTo>
                <a:lnTo>
                  <a:pt x="5289091" y="4365905"/>
                </a:lnTo>
                <a:lnTo>
                  <a:pt x="0" y="4365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87760" y="2453892"/>
            <a:ext cx="5567243" cy="6804408"/>
          </a:xfrm>
          <a:custGeom>
            <a:avLst/>
            <a:gdLst/>
            <a:ahLst/>
            <a:cxnLst/>
            <a:rect r="r" b="b" t="t" l="l"/>
            <a:pathLst>
              <a:path h="6804408" w="5567243">
                <a:moveTo>
                  <a:pt x="0" y="0"/>
                </a:moveTo>
                <a:lnTo>
                  <a:pt x="5567244" y="0"/>
                </a:lnTo>
                <a:lnTo>
                  <a:pt x="5567244" y="6804408"/>
                </a:lnTo>
                <a:lnTo>
                  <a:pt x="0" y="6804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90063" y="2293773"/>
            <a:ext cx="9295987" cy="108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5"/>
              </a:lnSpc>
            </a:pPr>
            <a:r>
              <a:rPr lang="en-US" sz="7762" spc="-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41392" y="4046512"/>
            <a:ext cx="11922681" cy="503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48" indent="-474974" lvl="1">
              <a:lnSpc>
                <a:spcPts val="4971"/>
              </a:lnSpc>
              <a:buFont typeface="Arial"/>
              <a:buChar char="•"/>
            </a:pPr>
            <a:r>
              <a:rPr lang="en-US" sz="4399" spc="-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Employee attrition refers to employees leaving an organization</a:t>
            </a:r>
          </a:p>
          <a:p>
            <a:pPr algn="l" marL="949948" indent="-474974" lvl="1">
              <a:lnSpc>
                <a:spcPts val="4971"/>
              </a:lnSpc>
              <a:buFont typeface="Arial"/>
              <a:buChar char="•"/>
            </a:pPr>
            <a:r>
              <a:rPr lang="en-US" sz="4399" spc="-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attrition affects growth and workforce stability</a:t>
            </a:r>
          </a:p>
          <a:p>
            <a:pPr algn="l" marL="949948" indent="-474974" lvl="1">
              <a:lnSpc>
                <a:spcPts val="4971"/>
              </a:lnSpc>
              <a:buFont typeface="Arial"/>
              <a:buChar char="•"/>
            </a:pPr>
            <a:r>
              <a:rPr lang="en-US" sz="4399" spc="-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HR analytics helps identify attrition drivers</a:t>
            </a:r>
          </a:p>
          <a:p>
            <a:pPr algn="l" marL="949948" indent="-474974" lvl="1">
              <a:lnSpc>
                <a:spcPts val="4971"/>
              </a:lnSpc>
              <a:buFont typeface="Arial"/>
              <a:buChar char="•"/>
            </a:pPr>
            <a:r>
              <a:rPr lang="en-US" sz="4399" spc="-1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visualization improves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7358" y="2448354"/>
            <a:ext cx="5289091" cy="4365905"/>
          </a:xfrm>
          <a:custGeom>
            <a:avLst/>
            <a:gdLst/>
            <a:ahLst/>
            <a:cxnLst/>
            <a:rect r="r" b="b" t="t" l="l"/>
            <a:pathLst>
              <a:path h="4365905" w="5289091">
                <a:moveTo>
                  <a:pt x="0" y="0"/>
                </a:moveTo>
                <a:lnTo>
                  <a:pt x="5289091" y="0"/>
                </a:lnTo>
                <a:lnTo>
                  <a:pt x="5289091" y="4365904"/>
                </a:lnTo>
                <a:lnTo>
                  <a:pt x="0" y="436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33139" y="5434682"/>
            <a:ext cx="4239900" cy="3823618"/>
          </a:xfrm>
          <a:custGeom>
            <a:avLst/>
            <a:gdLst/>
            <a:ahLst/>
            <a:cxnLst/>
            <a:rect r="r" b="b" t="t" l="l"/>
            <a:pathLst>
              <a:path h="3823618" w="4239900">
                <a:moveTo>
                  <a:pt x="0" y="0"/>
                </a:moveTo>
                <a:lnTo>
                  <a:pt x="4239900" y="0"/>
                </a:lnTo>
                <a:lnTo>
                  <a:pt x="4239900" y="3823618"/>
                </a:lnTo>
                <a:lnTo>
                  <a:pt x="0" y="3823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94726" y="1797839"/>
            <a:ext cx="7764574" cy="176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47"/>
              </a:lnSpc>
            </a:pPr>
            <a:r>
              <a:rPr lang="en-US" b="true" sz="6399" spc="-2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70550" y="3860961"/>
            <a:ext cx="8728913" cy="482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868" indent="-335434" lvl="1">
              <a:lnSpc>
                <a:spcPts val="4350"/>
              </a:lnSpc>
              <a:buFont typeface="Arial"/>
              <a:buChar char="•"/>
            </a:pPr>
            <a:r>
              <a:rPr lang="en-US" b="true" sz="3107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Organization facing high employee attrition</a:t>
            </a:r>
          </a:p>
          <a:p>
            <a:pPr algn="just" marL="758170" indent="-379085" lvl="1">
              <a:lnSpc>
                <a:spcPts val="4916"/>
              </a:lnSpc>
              <a:buFont typeface="Arial"/>
              <a:buChar char="•"/>
            </a:pPr>
            <a:r>
              <a:rPr lang="en-US" b="true" sz="351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Increased hiring and training costs</a:t>
            </a:r>
          </a:p>
          <a:p>
            <a:pPr algn="just" marL="758170" indent="-379085" lvl="1">
              <a:lnSpc>
                <a:spcPts val="4916"/>
              </a:lnSpc>
              <a:buFont typeface="Arial"/>
              <a:buChar char="•"/>
            </a:pPr>
            <a:r>
              <a:rPr lang="en-US" b="true" sz="351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Lack of data-driven attrition analysis</a:t>
            </a:r>
          </a:p>
          <a:p>
            <a:pPr algn="l" marL="779996" indent="-389998" lvl="1">
              <a:lnSpc>
                <a:spcPts val="5057"/>
              </a:lnSpc>
              <a:buFont typeface="Arial"/>
              <a:buChar char="•"/>
            </a:pPr>
            <a:r>
              <a:rPr lang="en-US" b="true" sz="3612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Need for analytical dashboard for HR decisions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60776" y="2634370"/>
            <a:ext cx="698524" cy="6623930"/>
          </a:xfrm>
          <a:custGeom>
            <a:avLst/>
            <a:gdLst/>
            <a:ahLst/>
            <a:cxnLst/>
            <a:rect r="r" b="b" t="t" l="l"/>
            <a:pathLst>
              <a:path h="6623930" w="698524">
                <a:moveTo>
                  <a:pt x="0" y="0"/>
                </a:moveTo>
                <a:lnTo>
                  <a:pt x="698524" y="0"/>
                </a:lnTo>
                <a:lnTo>
                  <a:pt x="698524" y="6623930"/>
                </a:lnTo>
                <a:lnTo>
                  <a:pt x="0" y="662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634370"/>
            <a:ext cx="5034187" cy="6623930"/>
          </a:xfrm>
          <a:custGeom>
            <a:avLst/>
            <a:gdLst/>
            <a:ahLst/>
            <a:cxnLst/>
            <a:rect r="r" b="b" t="t" l="l"/>
            <a:pathLst>
              <a:path h="6623930" w="5034187">
                <a:moveTo>
                  <a:pt x="0" y="0"/>
                </a:moveTo>
                <a:lnTo>
                  <a:pt x="5034187" y="0"/>
                </a:lnTo>
                <a:lnTo>
                  <a:pt x="5034187" y="6623930"/>
                </a:lnTo>
                <a:lnTo>
                  <a:pt x="0" y="6623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02646" y="1689109"/>
            <a:ext cx="7172725" cy="197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spc="-31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SURVEY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27018" y="3907002"/>
            <a:ext cx="7907389" cy="48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609" indent="-366804" lvl="1">
              <a:lnSpc>
                <a:spcPts val="4757"/>
              </a:lnSpc>
              <a:buFont typeface="Arial"/>
              <a:buChar char="•"/>
            </a:pPr>
            <a:r>
              <a:rPr lang="en-US" sz="33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Previous studies link attrition to salary and experience</a:t>
            </a:r>
          </a:p>
          <a:p>
            <a:pPr algn="l" marL="733609" indent="-366804" lvl="1">
              <a:lnSpc>
                <a:spcPts val="4757"/>
              </a:lnSpc>
              <a:buFont typeface="Arial"/>
              <a:buChar char="•"/>
            </a:pPr>
            <a:r>
              <a:rPr lang="en-US" sz="33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Job role and department impact employee retention</a:t>
            </a:r>
          </a:p>
          <a:p>
            <a:pPr algn="l" marL="733609" indent="-366804" lvl="1">
              <a:lnSpc>
                <a:spcPts val="4757"/>
              </a:lnSpc>
              <a:buFont typeface="Arial"/>
              <a:buChar char="•"/>
            </a:pPr>
            <a:r>
              <a:rPr lang="en-US" sz="33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HR dashboards improve monitoring and analysis</a:t>
            </a:r>
          </a:p>
          <a:p>
            <a:pPr algn="l" marL="757409" indent="-378705" lvl="1">
              <a:lnSpc>
                <a:spcPts val="4911"/>
              </a:lnSpc>
              <a:buFont typeface="Arial"/>
              <a:buChar char="•"/>
            </a:pPr>
            <a:r>
              <a:rPr lang="en-US" sz="35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visualization supports better HR strategies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7358" y="2495760"/>
            <a:ext cx="2881849" cy="3001926"/>
          </a:xfrm>
          <a:custGeom>
            <a:avLst/>
            <a:gdLst/>
            <a:ahLst/>
            <a:cxnLst/>
            <a:rect r="r" b="b" t="t" l="l"/>
            <a:pathLst>
              <a:path h="3001926" w="2881849">
                <a:moveTo>
                  <a:pt x="0" y="0"/>
                </a:moveTo>
                <a:lnTo>
                  <a:pt x="2881849" y="0"/>
                </a:lnTo>
                <a:lnTo>
                  <a:pt x="2881849" y="3001926"/>
                </a:lnTo>
                <a:lnTo>
                  <a:pt x="0" y="3001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76933" y="5769598"/>
            <a:ext cx="3172146" cy="2531949"/>
          </a:xfrm>
          <a:custGeom>
            <a:avLst/>
            <a:gdLst/>
            <a:ahLst/>
            <a:cxnLst/>
            <a:rect r="r" b="b" t="t" l="l"/>
            <a:pathLst>
              <a:path h="2531949" w="3172146">
                <a:moveTo>
                  <a:pt x="0" y="0"/>
                </a:moveTo>
                <a:lnTo>
                  <a:pt x="3172146" y="0"/>
                </a:lnTo>
                <a:lnTo>
                  <a:pt x="3172146" y="2531949"/>
                </a:lnTo>
                <a:lnTo>
                  <a:pt x="0" y="253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30067" y="3600764"/>
            <a:ext cx="7313934" cy="531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7867" indent="-408933" lvl="1">
              <a:lnSpc>
                <a:spcPts val="5303"/>
              </a:lnSpc>
              <a:buFont typeface="Arial"/>
              <a:buChar char="•"/>
            </a:pPr>
            <a:r>
              <a:rPr lang="en-US" b="true" sz="378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HR data collection</a:t>
            </a:r>
          </a:p>
          <a:p>
            <a:pPr algn="l" marL="817867" indent="-408933" lvl="1">
              <a:lnSpc>
                <a:spcPts val="5303"/>
              </a:lnSpc>
              <a:buFont typeface="Arial"/>
              <a:buChar char="•"/>
            </a:pPr>
            <a:r>
              <a:rPr lang="en-US" b="true" sz="378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cleaning and preprocessing</a:t>
            </a:r>
          </a:p>
          <a:p>
            <a:pPr algn="l" marL="817867" indent="-408933" lvl="1">
              <a:lnSpc>
                <a:spcPts val="5303"/>
              </a:lnSpc>
              <a:buFont typeface="Arial"/>
              <a:buChar char="•"/>
            </a:pPr>
            <a:r>
              <a:rPr lang="en-US" b="true" sz="378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KPI identification</a:t>
            </a:r>
          </a:p>
          <a:p>
            <a:pPr algn="l" marL="817867" indent="-408933" lvl="1">
              <a:lnSpc>
                <a:spcPts val="5303"/>
              </a:lnSpc>
              <a:buFont typeface="Arial"/>
              <a:buChar char="•"/>
            </a:pPr>
            <a:r>
              <a:rPr lang="en-US" b="true" sz="378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Exploratory data analysis</a:t>
            </a:r>
          </a:p>
          <a:p>
            <a:pPr algn="l" marL="817867" indent="-408933" lvl="1">
              <a:lnSpc>
                <a:spcPts val="5303"/>
              </a:lnSpc>
              <a:buFont typeface="Arial"/>
              <a:buChar char="•"/>
            </a:pPr>
            <a:r>
              <a:rPr lang="en-US" b="true" sz="378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Dashboard creation in Power BI</a:t>
            </a:r>
          </a:p>
          <a:p>
            <a:pPr algn="l" marL="817867" indent="-408933" lvl="1">
              <a:lnSpc>
                <a:spcPts val="5303"/>
              </a:lnSpc>
              <a:buFont typeface="Arial"/>
              <a:buChar char="•"/>
            </a:pPr>
            <a:r>
              <a:rPr lang="en-US" b="true" sz="378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Insight generation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92746" y="2386274"/>
            <a:ext cx="7172725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7"/>
              </a:lnSpc>
              <a:spcBef>
                <a:spcPct val="0"/>
              </a:spcBef>
            </a:pPr>
            <a:r>
              <a:rPr lang="en-US" b="true" sz="6399" spc="-2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18677" y="3037266"/>
            <a:ext cx="6740623" cy="4840993"/>
          </a:xfrm>
          <a:custGeom>
            <a:avLst/>
            <a:gdLst/>
            <a:ahLst/>
            <a:cxnLst/>
            <a:rect r="r" b="b" t="t" l="l"/>
            <a:pathLst>
              <a:path h="4840993" w="6740623">
                <a:moveTo>
                  <a:pt x="0" y="0"/>
                </a:moveTo>
                <a:lnTo>
                  <a:pt x="6740623" y="0"/>
                </a:lnTo>
                <a:lnTo>
                  <a:pt x="6740623" y="4840993"/>
                </a:lnTo>
                <a:lnTo>
                  <a:pt x="0" y="4840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1554" y="2987480"/>
            <a:ext cx="9530940" cy="197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spc="-31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DATASET</a:t>
            </a:r>
            <a:r>
              <a:rPr lang="en-US" b="true" sz="7200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DESCRIPTION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1790" y="5831983"/>
            <a:ext cx="14882217" cy="316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9999" indent="-505000" lvl="1">
              <a:lnSpc>
                <a:spcPts val="5005"/>
              </a:lnSpc>
              <a:buFont typeface="Arial"/>
              <a:buChar char="•"/>
            </a:pPr>
            <a:r>
              <a:rPr lang="en-US" sz="4678" spc="-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Dataset type: Structured HR data</a:t>
            </a:r>
          </a:p>
          <a:p>
            <a:pPr algn="l" marL="1009999" indent="-505000" lvl="1">
              <a:lnSpc>
                <a:spcPts val="5005"/>
              </a:lnSpc>
              <a:buFont typeface="Arial"/>
              <a:buChar char="•"/>
            </a:pPr>
            <a:r>
              <a:rPr lang="en-US" sz="4678" spc="-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 employees: 1470</a:t>
            </a:r>
          </a:p>
          <a:p>
            <a:pPr algn="l" marL="1009999" indent="-505000" lvl="1">
              <a:lnSpc>
                <a:spcPts val="5005"/>
              </a:lnSpc>
              <a:buFont typeface="Arial"/>
              <a:buChar char="•"/>
            </a:pPr>
            <a:r>
              <a:rPr lang="en-US" sz="4678" spc="-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 attributes: 35</a:t>
            </a:r>
          </a:p>
          <a:p>
            <a:pPr algn="l" marL="1009999" indent="-505000" lvl="1">
              <a:lnSpc>
                <a:spcPts val="5005"/>
              </a:lnSpc>
              <a:buFont typeface="Arial"/>
              <a:buChar char="•"/>
            </a:pPr>
            <a:r>
              <a:rPr lang="en-US" sz="4678" spc="-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Target variable: Attrition (Yes/No)</a:t>
            </a:r>
          </a:p>
          <a:p>
            <a:pPr algn="l" marL="1009999" indent="-505000" lvl="1">
              <a:lnSpc>
                <a:spcPts val="5005"/>
              </a:lnSpc>
              <a:buFont typeface="Arial"/>
              <a:buChar char="•"/>
            </a:pPr>
            <a:r>
              <a:rPr lang="en-US" sz="4678" spc="-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includes demographic and job-related details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634370"/>
            <a:ext cx="5034187" cy="6623930"/>
          </a:xfrm>
          <a:custGeom>
            <a:avLst/>
            <a:gdLst/>
            <a:ahLst/>
            <a:cxnLst/>
            <a:rect r="r" b="b" t="t" l="l"/>
            <a:pathLst>
              <a:path h="6623930" w="5034187">
                <a:moveTo>
                  <a:pt x="0" y="0"/>
                </a:moveTo>
                <a:lnTo>
                  <a:pt x="5034187" y="0"/>
                </a:lnTo>
                <a:lnTo>
                  <a:pt x="5034187" y="6623930"/>
                </a:lnTo>
                <a:lnTo>
                  <a:pt x="0" y="662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6798" y="1987709"/>
            <a:ext cx="9888206" cy="191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8"/>
              </a:lnSpc>
              <a:spcBef>
                <a:spcPct val="0"/>
              </a:spcBef>
            </a:pPr>
            <a:r>
              <a:rPr lang="en-US" b="true" sz="695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695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ESULT – DASHBOARD OUTPUT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51170" y="4681217"/>
            <a:ext cx="11799717" cy="208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4352" indent="-417176" lvl="1">
              <a:lnSpc>
                <a:spcPts val="4135"/>
              </a:lnSpc>
              <a:buFont typeface="Arial"/>
              <a:buChar char="•"/>
            </a:pPr>
            <a:r>
              <a:rPr lang="en-US" b="true" sz="3864" spc="-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HR Attrition Dashboard developed</a:t>
            </a:r>
          </a:p>
          <a:p>
            <a:pPr algn="l" marL="834352" indent="-417176" lvl="1">
              <a:lnSpc>
                <a:spcPts val="4135"/>
              </a:lnSpc>
              <a:buFont typeface="Arial"/>
              <a:buChar char="•"/>
            </a:pPr>
            <a:r>
              <a:rPr lang="en-US" b="true" sz="3864" spc="-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KPIs displayed: Attrition Rate, Total Employees</a:t>
            </a:r>
          </a:p>
          <a:p>
            <a:pPr algn="l" marL="834352" indent="-417176" lvl="1">
              <a:lnSpc>
                <a:spcPts val="4135"/>
              </a:lnSpc>
              <a:buFont typeface="Arial"/>
              <a:buChar char="•"/>
            </a:pPr>
            <a:r>
              <a:rPr lang="en-US" b="true" sz="3864" spc="-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Filters: Department, Job Role, Gender</a:t>
            </a:r>
          </a:p>
          <a:p>
            <a:pPr algn="l" marL="834352" indent="-417176" lvl="1">
              <a:lnSpc>
                <a:spcPts val="4135"/>
              </a:lnSpc>
              <a:buFont typeface="Arial"/>
              <a:buChar char="•"/>
            </a:pPr>
            <a:r>
              <a:rPr lang="en-US" b="true" sz="3864" spc="-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 representation of attrition trend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1677"/>
            <a:ext cx="8748385" cy="6537429"/>
          </a:xfrm>
          <a:custGeom>
            <a:avLst/>
            <a:gdLst/>
            <a:ahLst/>
            <a:cxnLst/>
            <a:rect r="r" b="b" t="t" l="l"/>
            <a:pathLst>
              <a:path h="6537429" w="8748385">
                <a:moveTo>
                  <a:pt x="0" y="0"/>
                </a:moveTo>
                <a:lnTo>
                  <a:pt x="8748385" y="0"/>
                </a:lnTo>
                <a:lnTo>
                  <a:pt x="8748385" y="6537430"/>
                </a:lnTo>
                <a:lnTo>
                  <a:pt x="0" y="6537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43649" y="3838999"/>
            <a:ext cx="10644351" cy="476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37736" indent="-418868" lvl="1">
              <a:lnSpc>
                <a:spcPts val="5432"/>
              </a:lnSpc>
              <a:buFont typeface="Arial"/>
              <a:buChar char="•"/>
            </a:pPr>
            <a:r>
              <a:rPr lang="en-US" sz="38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Sales department has highest attrition</a:t>
            </a:r>
          </a:p>
          <a:p>
            <a:pPr algn="just" marL="837736" indent="-418868" lvl="1">
              <a:lnSpc>
                <a:spcPts val="5432"/>
              </a:lnSpc>
              <a:buFont typeface="Arial"/>
              <a:buChar char="•"/>
            </a:pPr>
            <a:r>
              <a:rPr lang="en-US" sz="38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Low salary employees show higher attrition</a:t>
            </a:r>
          </a:p>
          <a:p>
            <a:pPr algn="l" marL="837736" indent="-418868" lvl="1">
              <a:lnSpc>
                <a:spcPts val="5432"/>
              </a:lnSpc>
              <a:buFont typeface="Arial"/>
              <a:buChar char="•"/>
            </a:pPr>
            <a:r>
              <a:rPr lang="en-US" sz="38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Employees with less than 2 years experience leave more</a:t>
            </a:r>
          </a:p>
          <a:p>
            <a:pPr algn="l" marL="837736" indent="-418868" lvl="1">
              <a:lnSpc>
                <a:spcPts val="5432"/>
              </a:lnSpc>
              <a:buFont typeface="Arial"/>
              <a:buChar char="•"/>
            </a:pPr>
            <a:r>
              <a:rPr lang="en-US" sz="38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Department and job role influence attrition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75965" y="1581677"/>
            <a:ext cx="8785056" cy="233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0"/>
              </a:lnSpc>
              <a:spcBef>
                <a:spcPct val="0"/>
              </a:spcBef>
            </a:pPr>
            <a:r>
              <a:rPr lang="en-US" b="true" sz="8514" spc="-3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RESULT – KEY INSIGHTS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79647" y="3469100"/>
            <a:ext cx="8709633" cy="417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0551" indent="-430276" lvl="1">
              <a:lnSpc>
                <a:spcPts val="5580"/>
              </a:lnSpc>
              <a:buFont typeface="Arial"/>
              <a:buChar char="•"/>
            </a:pPr>
            <a:r>
              <a:rPr lang="en-US" sz="39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 identifies key attrition factors</a:t>
            </a:r>
          </a:p>
          <a:p>
            <a:pPr algn="l" marL="860551" indent="-430276" lvl="1">
              <a:lnSpc>
                <a:spcPts val="5580"/>
              </a:lnSpc>
              <a:buFont typeface="Arial"/>
              <a:buChar char="•"/>
            </a:pPr>
            <a:r>
              <a:rPr lang="en-US" sz="39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HR teams can take proactive retention actions</a:t>
            </a:r>
          </a:p>
          <a:p>
            <a:pPr algn="l" marL="860551" indent="-430276" lvl="1">
              <a:lnSpc>
                <a:spcPts val="5580"/>
              </a:lnSpc>
              <a:buFont typeface="Arial"/>
              <a:buChar char="•"/>
            </a:pPr>
            <a:r>
              <a:rPr lang="en-US" sz="39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Data-driven approach improves HR decisions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1454293"/>
            <a:ext cx="5416153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7"/>
              </a:lnSpc>
              <a:spcBef>
                <a:spcPct val="0"/>
              </a:spcBef>
            </a:pPr>
            <a:r>
              <a:rPr lang="en-US" b="true" sz="6399" spc="-2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913571" y="1761152"/>
            <a:ext cx="5448656" cy="6764697"/>
          </a:xfrm>
          <a:custGeom>
            <a:avLst/>
            <a:gdLst/>
            <a:ahLst/>
            <a:cxnLst/>
            <a:rect r="r" b="b" t="t" l="l"/>
            <a:pathLst>
              <a:path h="6764697" w="5448656">
                <a:moveTo>
                  <a:pt x="0" y="0"/>
                </a:moveTo>
                <a:lnTo>
                  <a:pt x="5448656" y="0"/>
                </a:lnTo>
                <a:lnTo>
                  <a:pt x="5448656" y="6764696"/>
                </a:lnTo>
                <a:lnTo>
                  <a:pt x="0" y="67646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7358" y="3375248"/>
            <a:ext cx="10809827" cy="100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spc="-31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362395" y="2244027"/>
            <a:ext cx="7362309" cy="7014273"/>
          </a:xfrm>
          <a:custGeom>
            <a:avLst/>
            <a:gdLst/>
            <a:ahLst/>
            <a:cxnLst/>
            <a:rect r="r" b="b" t="t" l="l"/>
            <a:pathLst>
              <a:path h="7014273" w="7362309">
                <a:moveTo>
                  <a:pt x="0" y="0"/>
                </a:moveTo>
                <a:lnTo>
                  <a:pt x="7362309" y="0"/>
                </a:lnTo>
                <a:lnTo>
                  <a:pt x="7362309" y="7014273"/>
                </a:lnTo>
                <a:lnTo>
                  <a:pt x="0" y="70142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2745" y="4677069"/>
            <a:ext cx="11879649" cy="176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86" indent="-464193" lvl="1">
              <a:lnSpc>
                <a:spcPts val="4601"/>
              </a:lnSpc>
              <a:buFont typeface="Arial"/>
              <a:buChar char="•"/>
            </a:pPr>
            <a:r>
              <a:rPr lang="en-US" b="true" sz="4300" spc="-1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Predictive attrition modeling</a:t>
            </a:r>
          </a:p>
          <a:p>
            <a:pPr algn="l" marL="928386" indent="-464193" lvl="1">
              <a:lnSpc>
                <a:spcPts val="4601"/>
              </a:lnSpc>
              <a:buFont typeface="Arial"/>
              <a:buChar char="•"/>
            </a:pPr>
            <a:r>
              <a:rPr lang="en-US" b="true" sz="4300" spc="-1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HR data integration</a:t>
            </a:r>
          </a:p>
          <a:p>
            <a:pPr algn="l" marL="928386" indent="-464193" lvl="1">
              <a:lnSpc>
                <a:spcPts val="4601"/>
              </a:lnSpc>
              <a:buFont typeface="Arial"/>
              <a:buChar char="•"/>
            </a:pPr>
            <a:r>
              <a:rPr lang="en-US" b="true" sz="4300" spc="-1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Machine learning-based analysi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41792" y="2405336"/>
            <a:ext cx="6217508" cy="6852964"/>
          </a:xfrm>
          <a:custGeom>
            <a:avLst/>
            <a:gdLst/>
            <a:ahLst/>
            <a:cxnLst/>
            <a:rect r="r" b="b" t="t" l="l"/>
            <a:pathLst>
              <a:path h="6852964" w="6217508">
                <a:moveTo>
                  <a:pt x="0" y="0"/>
                </a:moveTo>
                <a:lnTo>
                  <a:pt x="6217508" y="0"/>
                </a:lnTo>
                <a:lnTo>
                  <a:pt x="6217508" y="6852964"/>
                </a:lnTo>
                <a:lnTo>
                  <a:pt x="0" y="6852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0339" y="3671026"/>
            <a:ext cx="9698374" cy="286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5"/>
              </a:lnSpc>
            </a:pPr>
          </a:p>
          <a:p>
            <a:pPr algn="just" marL="751808" indent="-375904" lvl="1">
              <a:lnSpc>
                <a:spcPts val="4875"/>
              </a:lnSpc>
              <a:buFont typeface="Arial"/>
              <a:buChar char="•"/>
            </a:pPr>
            <a:r>
              <a:rPr lang="en-US" sz="34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Kaggle HR Attrition Dataset</a:t>
            </a:r>
          </a:p>
          <a:p>
            <a:pPr algn="just" marL="881345" indent="-440672" lvl="1">
              <a:lnSpc>
                <a:spcPts val="5715"/>
              </a:lnSpc>
              <a:buFont typeface="Arial"/>
              <a:buChar char="•"/>
            </a:pPr>
            <a:r>
              <a:rPr lang="en-US" sz="40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Power BI Official Documentation</a:t>
            </a:r>
          </a:p>
          <a:p>
            <a:pPr algn="just" marL="989292" indent="-494646" lvl="1">
              <a:lnSpc>
                <a:spcPts val="6415"/>
              </a:lnSpc>
              <a:buFont typeface="Arial"/>
              <a:buChar char="•"/>
            </a:pPr>
            <a:r>
              <a:rPr lang="en-US" sz="45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HR Analytics Articles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4068" y="2901427"/>
            <a:ext cx="5972889" cy="100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  <a:spcBef>
                <a:spcPct val="0"/>
              </a:spcBef>
            </a:pPr>
            <a:r>
              <a:rPr lang="en-US" b="true" sz="7200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39847" y="2344687"/>
            <a:ext cx="4817277" cy="7980428"/>
          </a:xfrm>
          <a:custGeom>
            <a:avLst/>
            <a:gdLst/>
            <a:ahLst/>
            <a:cxnLst/>
            <a:rect r="r" b="b" t="t" l="l"/>
            <a:pathLst>
              <a:path h="7980428" w="4817277">
                <a:moveTo>
                  <a:pt x="0" y="0"/>
                </a:moveTo>
                <a:lnTo>
                  <a:pt x="4817277" y="0"/>
                </a:lnTo>
                <a:lnTo>
                  <a:pt x="4817277" y="7980428"/>
                </a:lnTo>
                <a:lnTo>
                  <a:pt x="0" y="79804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05089" y="7439239"/>
            <a:ext cx="2546686" cy="3638123"/>
          </a:xfrm>
          <a:custGeom>
            <a:avLst/>
            <a:gdLst/>
            <a:ahLst/>
            <a:cxnLst/>
            <a:rect r="r" b="b" t="t" l="l"/>
            <a:pathLst>
              <a:path h="3638123" w="2546686">
                <a:moveTo>
                  <a:pt x="0" y="0"/>
                </a:moveTo>
                <a:lnTo>
                  <a:pt x="2546686" y="0"/>
                </a:lnTo>
                <a:lnTo>
                  <a:pt x="2546686" y="3638122"/>
                </a:lnTo>
                <a:lnTo>
                  <a:pt x="0" y="3638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06629" y="1217473"/>
            <a:ext cx="2890291" cy="2254427"/>
          </a:xfrm>
          <a:custGeom>
            <a:avLst/>
            <a:gdLst/>
            <a:ahLst/>
            <a:cxnLst/>
            <a:rect r="r" b="b" t="t" l="l"/>
            <a:pathLst>
              <a:path h="2254427" w="2890291">
                <a:moveTo>
                  <a:pt x="0" y="0"/>
                </a:moveTo>
                <a:lnTo>
                  <a:pt x="2890291" y="0"/>
                </a:lnTo>
                <a:lnTo>
                  <a:pt x="2890291" y="2254427"/>
                </a:lnTo>
                <a:lnTo>
                  <a:pt x="0" y="2254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7358" y="4325359"/>
            <a:ext cx="10291074" cy="150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52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358" y="5771254"/>
            <a:ext cx="6172265" cy="51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  <a:spcBef>
                <a:spcPct val="0"/>
              </a:spcBef>
            </a:pPr>
            <a:r>
              <a:rPr lang="en-US" sz="3004" spc="4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DAG8WvdD1Hw</dc:identifier>
  <dcterms:modified xsi:type="dcterms:W3CDTF">2011-08-01T06:04:30Z</dcterms:modified>
  <cp:revision>1</cp:revision>
  <dc:title>RUNGTA COLLEGE OF ENGINEERING</dc:title>
</cp:coreProperties>
</file>